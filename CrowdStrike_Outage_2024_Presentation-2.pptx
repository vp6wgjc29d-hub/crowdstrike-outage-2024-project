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Calibri (MS)" panose="020B0604020202020204" charset="0"/>
      <p:regular r:id="rId12"/>
    </p:embeddedFont>
    <p:embeddedFont>
      <p:font typeface="Calibri (MS) Bold" panose="020B0604020202020204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5.xml"/><Relationship Id="rId4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6.xml"/><Relationship Id="rId4" Type="http://schemas.openxmlformats.org/officeDocument/2006/relationships/image" Target="../media/image3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571597"/>
            <a:ext cx="18288000" cy="12070080"/>
          </a:xfrm>
          <a:custGeom>
            <a:avLst/>
            <a:gdLst/>
            <a:ahLst/>
            <a:cxnLst/>
            <a:rect l="l" t="t" r="r" b="b"/>
            <a:pathLst>
              <a:path w="18288000" h="12070080">
                <a:moveTo>
                  <a:pt x="0" y="0"/>
                </a:moveTo>
                <a:lnTo>
                  <a:pt x="18288000" y="0"/>
                </a:lnTo>
                <a:lnTo>
                  <a:pt x="18288000" y="12070080"/>
                </a:lnTo>
                <a:lnTo>
                  <a:pt x="0" y="120700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844972" y="1274797"/>
            <a:ext cx="16607676" cy="2111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7926"/>
              </a:lnSpc>
            </a:pPr>
            <a:r>
              <a:rPr lang="en-US" sz="6605" b="1">
                <a:solidFill>
                  <a:srgbClr val="0A1C5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CrowdStrike Outage 2024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531306" y="3410007"/>
            <a:ext cx="15234999" cy="1349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4323"/>
              </a:lnSpc>
            </a:pPr>
            <a:r>
              <a:rPr lang="en-US" sz="3602">
                <a:solidFill>
                  <a:srgbClr val="CC0000"/>
                </a:solidFill>
                <a:latin typeface="Calibri (MS)"/>
                <a:ea typeface="Calibri (MS)"/>
                <a:cs typeface="Calibri (MS)"/>
                <a:sym typeface="Calibri (MS)"/>
              </a:rPr>
              <a:t>The Largest IT Outage in History - 8.5 Million Devices Crashed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217649" y="5593975"/>
            <a:ext cx="15234999" cy="1095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82"/>
              </a:lnSpc>
            </a:pPr>
            <a:r>
              <a:rPr lang="en-US" sz="3402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PRASHANTI AND  JASMEEN STUDENT OF COMPUTER PROGRAMMING IN FALL 2026</a:t>
            </a:r>
          </a:p>
          <a:p>
            <a:pPr algn="ctr">
              <a:lnSpc>
                <a:spcPts val="4082"/>
              </a:lnSpc>
            </a:pPr>
            <a:endParaRPr lang="en-US" sz="3402" b="1" dirty="0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447"/>
    </mc:Choice>
    <mc:Fallback xmlns="">
      <p:transition spd="slow" advTm="25447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57200" y="342500"/>
            <a:ext cx="16995448" cy="8081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485"/>
              </a:lnSpc>
            </a:pPr>
            <a:r>
              <a:rPr lang="en-US" sz="5404" b="1" dirty="0">
                <a:solidFill>
                  <a:srgbClr val="0E236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What Happened? July 19, 2024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44972" y="1762801"/>
            <a:ext cx="16607676" cy="10748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2">
                <a:solidFill>
                  <a:srgbClr val="323232"/>
                </a:solidFill>
                <a:latin typeface="Calibri (MS)"/>
                <a:ea typeface="Calibri (MS)"/>
                <a:cs typeface="Calibri (MS)"/>
                <a:sym typeface="Calibri (MS)"/>
              </a:rPr>
              <a:t>04:09 UTC - Global Outage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44972" y="2752249"/>
            <a:ext cx="7918771" cy="68114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212121"/>
                </a:solidFill>
                <a:latin typeface="Calibri (MS)"/>
                <a:ea typeface="Calibri (MS)"/>
                <a:cs typeface="Calibri (MS)"/>
                <a:sym typeface="Calibri (MS)"/>
              </a:rPr>
              <a:t>• CrowdStrike is a cybersecurity company - Falcon sensor protects Windows</a:t>
            </a:r>
          </a:p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212121"/>
                </a:solidFill>
                <a:latin typeface="Calibri (MS)"/>
                <a:ea typeface="Calibri (MS)"/>
                <a:cs typeface="Calibri (MS)"/>
                <a:sym typeface="Calibri (MS)"/>
              </a:rPr>
              <a:t>• Faulty update: Channel File C-00000291*.sys with logic error</a:t>
            </a:r>
          </a:p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212121"/>
                </a:solidFill>
                <a:latin typeface="Calibri (MS)"/>
                <a:ea typeface="Calibri (MS)"/>
                <a:cs typeface="Calibri (MS)"/>
                <a:sym typeface="Calibri (MS)"/>
              </a:rPr>
              <a:t>• Pushed via CDN to millions of PCs in minutes</a:t>
            </a:r>
          </a:p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212121"/>
                </a:solidFill>
                <a:latin typeface="Calibri (MS)"/>
                <a:ea typeface="Calibri (MS)"/>
                <a:cs typeface="Calibri (MS)"/>
                <a:sym typeface="Calibri (MS)"/>
              </a:rPr>
              <a:t>• Only 78 minutes live, but caused global crash</a:t>
            </a:r>
          </a:p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212121"/>
                </a:solidFill>
                <a:latin typeface="Calibri (MS)"/>
                <a:ea typeface="Calibri (MS)"/>
                <a:cs typeface="Calibri (MS)"/>
                <a:sym typeface="Calibri (MS)"/>
              </a:rPr>
              <a:t>• Affected: Windows 10/11 with Falcon 7.11+ that were online</a:t>
            </a:r>
          </a:p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212121"/>
                </a:solidFill>
                <a:latin typeface="Calibri (MS)"/>
                <a:ea typeface="Calibri (MS)"/>
                <a:cs typeface="Calibri (MS)"/>
                <a:sym typeface="Calibri (MS)"/>
              </a:rPr>
              <a:t>• Safe: Mac, Linux, offline PCs</a:t>
            </a:r>
          </a:p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212121"/>
                </a:solidFill>
                <a:latin typeface="Calibri (MS)"/>
                <a:ea typeface="Calibri (MS)"/>
                <a:cs typeface="Calibri (MS)"/>
                <a:sym typeface="Calibri (MS)"/>
              </a:rPr>
              <a:t>• Result: Blue Screen of Death (BSOD) boot loop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9608706" y="2745343"/>
            <a:ext cx="7549696" cy="5216157"/>
            <a:chOff x="0" y="0"/>
            <a:chExt cx="10066261" cy="695487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066274" cy="6954901"/>
            </a:xfrm>
            <a:custGeom>
              <a:avLst/>
              <a:gdLst/>
              <a:ahLst/>
              <a:cxnLst/>
              <a:rect l="l" t="t" r="r" b="b"/>
              <a:pathLst>
                <a:path w="10066274" h="6954901">
                  <a:moveTo>
                    <a:pt x="0" y="0"/>
                  </a:moveTo>
                  <a:lnTo>
                    <a:pt x="10066274" y="0"/>
                  </a:lnTo>
                  <a:lnTo>
                    <a:pt x="10066274" y="6954901"/>
                  </a:lnTo>
                  <a:lnTo>
                    <a:pt x="0" y="69549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1414" r="-11414"/>
              </a:stretch>
            </a:blipFill>
          </p:spPr>
        </p:sp>
      </p:grpSp>
    </p:spTree>
    <p:custDataLst>
      <p:tags r:id="rId1"/>
    </p:custDataLst>
  </p:cSld>
  <p:clrMapOvr>
    <a:masterClrMapping/>
  </p:clrMapOvr>
  <p:transition advTm="40932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90600" y="342500"/>
            <a:ext cx="16462048" cy="8081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485"/>
              </a:lnSpc>
            </a:pPr>
            <a:r>
              <a:rPr lang="en-US" sz="5404" b="1" dirty="0">
                <a:solidFill>
                  <a:srgbClr val="0E236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Timeline of Outage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44972" y="1762801"/>
            <a:ext cx="16607676" cy="10748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2">
                <a:solidFill>
                  <a:srgbClr val="323232"/>
                </a:solidFill>
                <a:latin typeface="Calibri (MS)"/>
                <a:ea typeface="Calibri (MS)"/>
                <a:cs typeface="Calibri (MS)"/>
                <a:sym typeface="Calibri (MS)"/>
              </a:rPr>
              <a:t>From Deployment to Fix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44972" y="2733199"/>
            <a:ext cx="16154800" cy="6830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212121"/>
                </a:solidFill>
                <a:latin typeface="Calibri (MS)"/>
                <a:ea typeface="Calibri (MS)"/>
                <a:cs typeface="Calibri (MS)"/>
                <a:sym typeface="Calibri (MS)"/>
              </a:rPr>
              <a:t>• 00:09 UTC - New template deployment started</a:t>
            </a:r>
          </a:p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212121"/>
                </a:solidFill>
                <a:latin typeface="Calibri (MS)"/>
                <a:ea typeface="Calibri (MS)"/>
                <a:cs typeface="Calibri (MS)"/>
                <a:sym typeface="Calibri (MS)"/>
              </a:rPr>
              <a:t>• 04:09 UTC - BAD Channel File 291 pushed via CDN - Millions affected instantly</a:t>
            </a:r>
          </a:p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212121"/>
                </a:solidFill>
                <a:latin typeface="Calibri (MS)"/>
                <a:ea typeface="Calibri (MS)"/>
                <a:cs typeface="Calibri (MS)"/>
                <a:sym typeface="Calibri (MS)"/>
              </a:rPr>
              <a:t>• 05:27 UTC - CrowdStrike reverted bad file, pushed GOOD file C-00000291*.sys</a:t>
            </a:r>
          </a:p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212121"/>
                </a:solidFill>
                <a:latin typeface="Calibri (MS)"/>
                <a:ea typeface="Calibri (MS)"/>
                <a:cs typeface="Calibri (MS)"/>
                <a:sym typeface="Calibri (MS)"/>
              </a:rPr>
              <a:t>• 05:36 UTC - Issue identified in EU &amp; US, workaround published</a:t>
            </a:r>
          </a:p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212121"/>
                </a:solidFill>
                <a:latin typeface="Calibri (MS)"/>
                <a:ea typeface="Calibri (MS)"/>
                <a:cs typeface="Calibri (MS)"/>
                <a:sym typeface="Calibri (MS)"/>
              </a:rPr>
              <a:t>• 06:00+ UTC - IT teams worldwide start manual fixes - Safe Mode + Delete file</a:t>
            </a:r>
          </a:p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212121"/>
                </a:solidFill>
                <a:latin typeface="Calibri (MS)"/>
                <a:ea typeface="Calibri (MS)"/>
                <a:cs typeface="Calibri (MS)"/>
                <a:sym typeface="Calibri (MS)"/>
              </a:rPr>
              <a:t>• July 20-29 - 97% to 99% sensors fixed, but airlines/hospitals took days</a:t>
            </a:r>
          </a:p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212121"/>
                </a:solidFill>
                <a:latin typeface="Calibri (MS)"/>
                <a:ea typeface="Calibri (MS)"/>
                <a:cs typeface="Calibri (MS)"/>
                <a:sym typeface="Calibri (MS)"/>
              </a:rPr>
              <a:t>• Key lesson: Fast deployment without staged rollout caused disaster</a:t>
            </a:r>
          </a:p>
        </p:txBody>
      </p:sp>
    </p:spTree>
    <p:custDataLst>
      <p:tags r:id="rId1"/>
    </p:custDataLst>
  </p:cSld>
  <p:clrMapOvr>
    <a:masterClrMapping/>
  </p:clrMapOvr>
  <p:transition advTm="35834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44972" y="342500"/>
            <a:ext cx="16607676" cy="16715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85"/>
              </a:lnSpc>
            </a:pPr>
            <a:r>
              <a:rPr lang="en-US" sz="5404" b="1">
                <a:solidFill>
                  <a:srgbClr val="0E236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Global Impact - Real Airport Chaos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44972" y="1762801"/>
            <a:ext cx="16607676" cy="10748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2">
                <a:solidFill>
                  <a:srgbClr val="323232"/>
                </a:solidFill>
                <a:latin typeface="Calibri (MS)"/>
                <a:ea typeface="Calibri (MS)"/>
                <a:cs typeface="Calibri (MS)"/>
                <a:sym typeface="Calibri (MS)"/>
              </a:rPr>
              <a:t>Media: airport.jpg from our repo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686333" y="2470814"/>
            <a:ext cx="9608706" cy="7137892"/>
            <a:chOff x="0" y="0"/>
            <a:chExt cx="12811608" cy="951719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2811633" cy="9517253"/>
            </a:xfrm>
            <a:custGeom>
              <a:avLst/>
              <a:gdLst/>
              <a:ahLst/>
              <a:cxnLst/>
              <a:rect l="l" t="t" r="r" b="b"/>
              <a:pathLst>
                <a:path w="12811633" h="9517253">
                  <a:moveTo>
                    <a:pt x="0" y="0"/>
                  </a:moveTo>
                  <a:lnTo>
                    <a:pt x="12811633" y="0"/>
                  </a:lnTo>
                  <a:lnTo>
                    <a:pt x="12811633" y="9517253"/>
                  </a:lnTo>
                  <a:lnTo>
                    <a:pt x="0" y="95172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5714" r="-5714"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11140011" y="2468185"/>
            <a:ext cx="6546094" cy="75073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212121"/>
                </a:solidFill>
                <a:latin typeface="Calibri (MS)"/>
                <a:ea typeface="Calibri (MS)"/>
                <a:cs typeface="Calibri (MS)"/>
                <a:sym typeface="Calibri (MS)"/>
              </a:rPr>
              <a:t>• 8.5 Million Windows devices crashed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212121"/>
                </a:solidFill>
                <a:latin typeface="Calibri (MS)"/>
                <a:ea typeface="Calibri (MS)"/>
                <a:cs typeface="Calibri (MS)"/>
                <a:sym typeface="Calibri (MS)"/>
              </a:rPr>
              <a:t>• Airlines: Delta, United, American, WestJet - Pearson Toronto affected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212121"/>
                </a:solidFill>
                <a:latin typeface="Calibri (MS)"/>
                <a:ea typeface="Calibri (MS)"/>
                <a:cs typeface="Calibri (MS)"/>
                <a:sym typeface="Calibri (MS)"/>
              </a:rPr>
              <a:t>• Flights: 5000+ cancelled, departure boards showed CANCELLED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212121"/>
                </a:solidFill>
                <a:latin typeface="Calibri (MS)"/>
                <a:ea typeface="Calibri (MS)"/>
                <a:cs typeface="Calibri (MS)"/>
                <a:sym typeface="Calibri (MS)"/>
              </a:rPr>
              <a:t>• Hospitals: Surgeries delayed, ER systems down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212121"/>
                </a:solidFill>
                <a:latin typeface="Calibri (MS)"/>
                <a:ea typeface="Calibri (MS)"/>
                <a:cs typeface="Calibri (MS)"/>
                <a:sym typeface="Calibri (MS)"/>
              </a:rPr>
              <a:t>• Banks: Payments, ATMs down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212121"/>
                </a:solidFill>
                <a:latin typeface="Calibri (MS)"/>
                <a:ea typeface="Calibri (MS)"/>
                <a:cs typeface="Calibri (MS)"/>
                <a:sym typeface="Calibri (MS)"/>
              </a:rPr>
              <a:t>• Emergency: 911 services disrupted in US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212121"/>
                </a:solidFill>
                <a:latin typeface="Calibri (MS)"/>
                <a:ea typeface="Calibri (MS)"/>
                <a:cs typeface="Calibri (MS)"/>
                <a:sym typeface="Calibri (MS)"/>
              </a:rPr>
              <a:t>• Retail, Logistics, Media all hit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212121"/>
                </a:solidFill>
                <a:latin typeface="Calibri (MS)"/>
                <a:ea typeface="Calibri (MS)"/>
                <a:cs typeface="Calibri (MS)"/>
                <a:sym typeface="Calibri (MS)"/>
              </a:rPr>
              <a:t>• Loss: Estimated $5.4 Billion USD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212121"/>
                </a:solidFill>
                <a:latin typeface="Calibri (MS)"/>
                <a:ea typeface="Calibri (MS)"/>
                <a:cs typeface="Calibri (MS)"/>
                <a:sym typeface="Calibri (MS)"/>
              </a:rPr>
              <a:t>• Biggest IT outage in history!</a:t>
            </a:r>
          </a:p>
        </p:txBody>
      </p:sp>
    </p:spTree>
    <p:custDataLst>
      <p:tags r:id="rId1"/>
    </p:custDataLst>
  </p:cSld>
  <p:clrMapOvr>
    <a:masterClrMapping/>
  </p:clrMapOvr>
  <p:transition advTm="4276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2">
                <a:lumMod val="40000"/>
                <a:lumOff val="60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44972" y="342500"/>
            <a:ext cx="16607676" cy="16715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85"/>
              </a:lnSpc>
            </a:pPr>
            <a:r>
              <a:rPr lang="en-US" sz="5404" b="1" dirty="0">
                <a:solidFill>
                  <a:srgbClr val="0E236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Root Cause - Channel File 291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44972" y="1762801"/>
            <a:ext cx="16607676" cy="10748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2">
                <a:solidFill>
                  <a:srgbClr val="323232"/>
                </a:solidFill>
                <a:latin typeface="Calibri (MS)"/>
                <a:ea typeface="Calibri (MS)"/>
                <a:cs typeface="Calibri (MS)"/>
                <a:sym typeface="Calibri (MS)"/>
              </a:rPr>
              <a:t>C-00000291*.sys - Logic Error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44972" y="2742724"/>
            <a:ext cx="16154800" cy="6820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>
                <a:solidFill>
                  <a:srgbClr val="212121"/>
                </a:solidFill>
                <a:latin typeface="Calibri (MS)"/>
                <a:ea typeface="Calibri (MS)"/>
                <a:cs typeface="Calibri (MS)"/>
                <a:sym typeface="Calibri (MS)"/>
              </a:rPr>
              <a:t>• Falcon sensor uses Channel Files to check named pipes (malware technique)</a:t>
            </a:r>
          </a:p>
          <a:p>
            <a:pPr algn="l">
              <a:lnSpc>
                <a:spcPts val="3062"/>
              </a:lnSpc>
            </a:pPr>
            <a:r>
              <a:rPr lang="en-US" sz="2551">
                <a:solidFill>
                  <a:srgbClr val="212121"/>
                </a:solidFill>
                <a:latin typeface="Calibri (MS)"/>
                <a:ea typeface="Calibri (MS)"/>
                <a:cs typeface="Calibri (MS)"/>
                <a:sym typeface="Calibri (MS)"/>
              </a:rPr>
              <a:t>• Channel File 291 delivers template for that check</a:t>
            </a:r>
          </a:p>
          <a:p>
            <a:pPr algn="l">
              <a:lnSpc>
                <a:spcPts val="3062"/>
              </a:lnSpc>
            </a:pPr>
            <a:r>
              <a:rPr lang="en-US" sz="2551">
                <a:solidFill>
                  <a:srgbClr val="212121"/>
                </a:solidFill>
                <a:latin typeface="Calibri (MS)"/>
                <a:ea typeface="Calibri (MS)"/>
                <a:cs typeface="Calibri (MS)"/>
                <a:sym typeface="Calibri (MS)"/>
              </a:rPr>
              <a:t>• Faulty file had 21 fields, code expected 20 parameters</a:t>
            </a:r>
          </a:p>
          <a:p>
            <a:pPr algn="l">
              <a:lnSpc>
                <a:spcPts val="3062"/>
              </a:lnSpc>
            </a:pPr>
            <a:r>
              <a:rPr lang="en-US" sz="2551">
                <a:solidFill>
                  <a:srgbClr val="212121"/>
                </a:solidFill>
                <a:latin typeface="Calibri (MS)"/>
                <a:ea typeface="Calibri (MS)"/>
                <a:cs typeface="Calibri (MS)"/>
                <a:sym typeface="Calibri (MS)"/>
              </a:rPr>
              <a:t>• Caused Out-of-bounds memory read -&gt; Crash in csagent.sys driver</a:t>
            </a:r>
          </a:p>
          <a:p>
            <a:pPr algn="l">
              <a:lnSpc>
                <a:spcPts val="3062"/>
              </a:lnSpc>
            </a:pPr>
            <a:r>
              <a:rPr lang="en-US" sz="2551">
                <a:solidFill>
                  <a:srgbClr val="212121"/>
                </a:solidFill>
                <a:latin typeface="Calibri (MS)"/>
                <a:ea typeface="Calibri (MS)"/>
                <a:cs typeface="Calibri (MS)"/>
                <a:sym typeface="Calibri (MS)"/>
              </a:rPr>
              <a:t>• Stop code: SYSTEM_THREAD_EXCEPTION_NOT_HANDLED</a:t>
            </a:r>
          </a:p>
          <a:p>
            <a:pPr algn="l">
              <a:lnSpc>
                <a:spcPts val="3062"/>
              </a:lnSpc>
            </a:pPr>
            <a:r>
              <a:rPr lang="en-US" sz="2551">
                <a:solidFill>
                  <a:srgbClr val="212121"/>
                </a:solidFill>
                <a:latin typeface="Calibri (MS)"/>
                <a:ea typeface="Calibri (MS)"/>
                <a:cs typeface="Calibri (MS)"/>
                <a:sym typeface="Calibri (MS)"/>
              </a:rPr>
              <a:t>• What failed: csagent.sys (CrowdStrike Falcon Sensor)</a:t>
            </a:r>
          </a:p>
          <a:p>
            <a:pPr algn="l">
              <a:lnSpc>
                <a:spcPts val="3062"/>
              </a:lnSpc>
            </a:pPr>
            <a:r>
              <a:rPr lang="en-US" sz="2551">
                <a:solidFill>
                  <a:srgbClr val="212121"/>
                </a:solidFill>
                <a:latin typeface="Calibri (MS)"/>
                <a:ea typeface="Calibri (MS)"/>
                <a:cs typeface="Calibri (MS)"/>
                <a:sym typeface="Calibri (MS)"/>
              </a:rPr>
              <a:t>• Location: C:\Windows\System32\drivers\CrowdStrike\C-00000291*.sys</a:t>
            </a:r>
          </a:p>
          <a:p>
            <a:pPr algn="l">
              <a:lnSpc>
                <a:spcPts val="3062"/>
              </a:lnSpc>
            </a:pPr>
            <a:r>
              <a:rPr lang="en-US" sz="2551">
                <a:solidFill>
                  <a:srgbClr val="212121"/>
                </a:solidFill>
                <a:latin typeface="Calibri (MS)"/>
                <a:ea typeface="Calibri (MS)"/>
                <a:cs typeface="Calibri (MS)"/>
                <a:sym typeface="Calibri (MS)"/>
              </a:rPr>
              <a:t>• Only Windows affected - Driver level bug</a:t>
            </a:r>
          </a:p>
        </p:txBody>
      </p:sp>
    </p:spTree>
    <p:custDataLst>
      <p:tags r:id="rId1"/>
    </p:custDataLst>
  </p:cSld>
  <p:clrMapOvr>
    <a:masterClrMapping/>
  </p:clrMapOvr>
  <p:transition advTm="5071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44972" y="342500"/>
            <a:ext cx="16607676" cy="16715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85"/>
              </a:lnSpc>
            </a:pPr>
            <a:r>
              <a:rPr lang="en-US" sz="5404" b="1">
                <a:solidFill>
                  <a:srgbClr val="0E236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Blue Screen of Death - BSOD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44972" y="1762801"/>
            <a:ext cx="16607676" cy="10748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2">
                <a:solidFill>
                  <a:srgbClr val="323232"/>
                </a:solidFill>
                <a:latin typeface="Calibri (MS)"/>
                <a:ea typeface="Calibri (MS)"/>
                <a:cs typeface="Calibri (MS)"/>
                <a:sym typeface="Calibri (MS)"/>
              </a:rPr>
              <a:t>Media: bsod.png from our repo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686333" y="2470814"/>
            <a:ext cx="8922372" cy="6863363"/>
            <a:chOff x="0" y="0"/>
            <a:chExt cx="11896496" cy="915115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896471" cy="9151112"/>
            </a:xfrm>
            <a:custGeom>
              <a:avLst/>
              <a:gdLst/>
              <a:ahLst/>
              <a:cxnLst/>
              <a:rect l="l" t="t" r="r" b="b"/>
              <a:pathLst>
                <a:path w="11896471" h="9151112">
                  <a:moveTo>
                    <a:pt x="0" y="0"/>
                  </a:moveTo>
                  <a:lnTo>
                    <a:pt x="11896471" y="0"/>
                  </a:lnTo>
                  <a:lnTo>
                    <a:pt x="11896471" y="9151112"/>
                  </a:lnTo>
                  <a:lnTo>
                    <a:pt x="0" y="91511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8376" r="-18376"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10453678" y="2468185"/>
            <a:ext cx="6957898" cy="6820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212121"/>
                </a:solidFill>
                <a:latin typeface="Calibri (MS)"/>
                <a:ea typeface="Calibri (MS)"/>
                <a:cs typeface="Calibri (MS)"/>
                <a:sym typeface="Calibri (MS)"/>
              </a:rPr>
              <a:t>• Screen: Your device ran into a problem and needs to restart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212121"/>
                </a:solidFill>
                <a:latin typeface="Calibri (MS)"/>
                <a:ea typeface="Calibri (MS)"/>
                <a:cs typeface="Calibri (MS)"/>
                <a:sym typeface="Calibri (MS)"/>
              </a:rPr>
              <a:t>• Sad face :(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212121"/>
                </a:solidFill>
                <a:latin typeface="Calibri (MS)"/>
                <a:ea typeface="Calibri (MS)"/>
                <a:cs typeface="Calibri (MS)"/>
                <a:sym typeface="Calibri (MS)"/>
              </a:rPr>
              <a:t>• 64% complete collecting error info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212121"/>
                </a:solidFill>
                <a:latin typeface="Calibri (MS)"/>
                <a:ea typeface="Calibri (MS)"/>
                <a:cs typeface="Calibri (MS)"/>
                <a:sym typeface="Calibri (MS)"/>
              </a:rPr>
              <a:t>• Stop code: SYSTEM_THREAD_EXCEPTION_NOT_HANDLED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212121"/>
                </a:solidFill>
                <a:latin typeface="Calibri (MS)"/>
                <a:ea typeface="Calibri (MS)"/>
                <a:cs typeface="Calibri (MS)"/>
                <a:sym typeface="Calibri (MS)"/>
              </a:rPr>
              <a:t>• What failed: csagent.sys (CrowdStrike Falcon Sensor)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212121"/>
                </a:solidFill>
                <a:latin typeface="Calibri (MS)"/>
                <a:ea typeface="Calibri (MS)"/>
                <a:cs typeface="Calibri (MS)"/>
                <a:sym typeface="Calibri (MS)"/>
              </a:rPr>
              <a:t>• Channel File 291 triggered out-of-bounds read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212121"/>
                </a:solidFill>
                <a:latin typeface="Calibri (MS)"/>
                <a:ea typeface="Calibri (MS)"/>
                <a:cs typeface="Calibri (MS)"/>
                <a:sym typeface="Calibri (MS)"/>
              </a:rPr>
              <a:t>• QR code links to windows.com/stopcode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212121"/>
                </a:solidFill>
                <a:latin typeface="Calibri (MS)"/>
                <a:ea typeface="Calibri (MS)"/>
                <a:cs typeface="Calibri (MS)"/>
                <a:sym typeface="Calibri (MS)"/>
              </a:rPr>
              <a:t>• PC stuck in boot loop - Could not boot normally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212121"/>
                </a:solidFill>
                <a:latin typeface="Calibri (MS)"/>
                <a:ea typeface="Calibri (MS)"/>
                <a:cs typeface="Calibri (MS)"/>
                <a:sym typeface="Calibri (MS)"/>
              </a:rPr>
              <a:t>• Required Safe Mode to delete bad file</a:t>
            </a:r>
          </a:p>
        </p:txBody>
      </p:sp>
    </p:spTree>
    <p:custDataLst>
      <p:tags r:id="rId1"/>
    </p:custDataLst>
  </p:cSld>
  <p:clrMapOvr>
    <a:masterClrMapping/>
  </p:clrMapOvr>
  <p:transition advTm="3269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44972" y="342500"/>
            <a:ext cx="16607676" cy="16715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85"/>
              </a:lnSpc>
            </a:pPr>
            <a:r>
              <a:rPr lang="en-US" sz="5404" b="1">
                <a:solidFill>
                  <a:srgbClr val="0E236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Fix Steps - Manual Recovery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44972" y="1762801"/>
            <a:ext cx="16607676" cy="10748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2">
                <a:solidFill>
                  <a:srgbClr val="323232"/>
                </a:solidFill>
                <a:latin typeface="Calibri (MS)"/>
                <a:ea typeface="Calibri (MS)"/>
                <a:cs typeface="Calibri (MS)"/>
                <a:sym typeface="Calibri (MS)"/>
              </a:rPr>
              <a:t>IT teams fixed 8.5M PCs one by one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44972" y="2742724"/>
            <a:ext cx="16154800" cy="6820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>
                <a:solidFill>
                  <a:srgbClr val="212121"/>
                </a:solidFill>
                <a:latin typeface="Calibri (MS)"/>
                <a:ea typeface="Calibri (MS)"/>
                <a:cs typeface="Calibri (MS)"/>
                <a:sym typeface="Calibri (MS)"/>
              </a:rPr>
              <a:t>• STEP 1: Boot into Safe Mode or Windows Recovery Environment (WinRE)</a:t>
            </a:r>
          </a:p>
          <a:p>
            <a:pPr algn="l">
              <a:lnSpc>
                <a:spcPts val="3062"/>
              </a:lnSpc>
            </a:pPr>
            <a:r>
              <a:rPr lang="en-US" sz="2551">
                <a:solidFill>
                  <a:srgbClr val="212121"/>
                </a:solidFill>
                <a:latin typeface="Calibri (MS)"/>
                <a:ea typeface="Calibri (MS)"/>
                <a:cs typeface="Calibri (MS)"/>
                <a:sym typeface="Calibri (MS)"/>
              </a:rPr>
              <a:t>• STEP 2: Navigate to C:\Windows\System32\drivers\CrowdStrike\</a:t>
            </a:r>
          </a:p>
          <a:p>
            <a:pPr algn="l">
              <a:lnSpc>
                <a:spcPts val="3062"/>
              </a:lnSpc>
            </a:pPr>
            <a:r>
              <a:rPr lang="en-US" sz="2551">
                <a:solidFill>
                  <a:srgbClr val="212121"/>
                </a:solidFill>
                <a:latin typeface="Calibri (MS)"/>
                <a:ea typeface="Calibri (MS)"/>
                <a:cs typeface="Calibri (MS)"/>
                <a:sym typeface="Calibri (MS)"/>
              </a:rPr>
              <a:t>• STEP 3: Find file C-00000291*.sys (bad channel file)</a:t>
            </a:r>
          </a:p>
          <a:p>
            <a:pPr algn="l">
              <a:lnSpc>
                <a:spcPts val="3062"/>
              </a:lnSpc>
            </a:pPr>
            <a:r>
              <a:rPr lang="en-US" sz="2551">
                <a:solidFill>
                  <a:srgbClr val="212121"/>
                </a:solidFill>
                <a:latin typeface="Calibri (MS)"/>
                <a:ea typeface="Calibri (MS)"/>
                <a:cs typeface="Calibri (MS)"/>
                <a:sym typeface="Calibri (MS)"/>
              </a:rPr>
              <a:t>• STEP 4: Delete the file - Right-click -&gt; Delete</a:t>
            </a:r>
          </a:p>
          <a:p>
            <a:pPr algn="l">
              <a:lnSpc>
                <a:spcPts val="3062"/>
              </a:lnSpc>
            </a:pPr>
            <a:r>
              <a:rPr lang="en-US" sz="2551">
                <a:solidFill>
                  <a:srgbClr val="212121"/>
                </a:solidFill>
                <a:latin typeface="Calibri (MS)"/>
                <a:ea typeface="Calibri (MS)"/>
                <a:cs typeface="Calibri (MS)"/>
                <a:sym typeface="Calibri (MS)"/>
              </a:rPr>
              <a:t>• STEP 5: Reboot normally - PC should boot!</a:t>
            </a:r>
          </a:p>
          <a:p>
            <a:pPr algn="l">
              <a:lnSpc>
                <a:spcPts val="3062"/>
              </a:lnSpc>
            </a:pPr>
            <a:r>
              <a:rPr lang="en-US" sz="2551">
                <a:solidFill>
                  <a:srgbClr val="212121"/>
                </a:solidFill>
                <a:latin typeface="Calibri (MS)"/>
                <a:ea typeface="Calibri (MS)"/>
                <a:cs typeface="Calibri (MS)"/>
                <a:sym typeface="Calibri (MS)"/>
              </a:rPr>
              <a:t>• If BitLocker enabled - Need recovery key</a:t>
            </a:r>
          </a:p>
          <a:p>
            <a:pPr algn="l">
              <a:lnSpc>
                <a:spcPts val="3062"/>
              </a:lnSpc>
            </a:pPr>
            <a:r>
              <a:rPr lang="en-US" sz="2551">
                <a:solidFill>
                  <a:srgbClr val="212121"/>
                </a:solidFill>
                <a:latin typeface="Calibri (MS)"/>
                <a:ea typeface="Calibri (MS)"/>
                <a:cs typeface="Calibri (MS)"/>
                <a:sym typeface="Calibri (MS)"/>
              </a:rPr>
              <a:t>• Cloud PCs - Azure, AWS had to do same</a:t>
            </a:r>
          </a:p>
          <a:p>
            <a:pPr algn="l">
              <a:lnSpc>
                <a:spcPts val="3062"/>
              </a:lnSpc>
            </a:pPr>
            <a:r>
              <a:rPr lang="en-US" sz="2551">
                <a:solidFill>
                  <a:srgbClr val="212121"/>
                </a:solidFill>
                <a:latin typeface="Calibri (MS)"/>
                <a:ea typeface="Calibri (MS)"/>
                <a:cs typeface="Calibri (MS)"/>
                <a:sym typeface="Calibri (MS)"/>
              </a:rPr>
              <a:t>• CrowdStrike pushed GOOD file at 05:27 UTC but manual delete needed for crashed PCs</a:t>
            </a:r>
          </a:p>
          <a:p>
            <a:pPr algn="l">
              <a:lnSpc>
                <a:spcPts val="3062"/>
              </a:lnSpc>
            </a:pPr>
            <a:r>
              <a:rPr lang="en-US" sz="2551">
                <a:solidFill>
                  <a:srgbClr val="212121"/>
                </a:solidFill>
                <a:latin typeface="Calibri (MS)"/>
                <a:ea typeface="Calibri (MS)"/>
                <a:cs typeface="Calibri (MS)"/>
                <a:sym typeface="Calibri (MS)"/>
              </a:rPr>
              <a:t>• Took 2-5 days for large orgs to fix all PCs</a:t>
            </a:r>
          </a:p>
        </p:txBody>
      </p:sp>
    </p:spTree>
  </p:cSld>
  <p:clrMapOvr>
    <a:masterClrMapping/>
  </p:clrMapOvr>
  <p:transition advTm="46372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44972" y="342500"/>
            <a:ext cx="16607676" cy="16715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85"/>
              </a:lnSpc>
            </a:pPr>
            <a:r>
              <a:rPr lang="en-US" sz="5404" b="1">
                <a:solidFill>
                  <a:srgbClr val="0E236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Prevention &amp; Lessons Learned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44972" y="1762801"/>
            <a:ext cx="16607676" cy="10748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2">
                <a:solidFill>
                  <a:srgbClr val="323232"/>
                </a:solidFill>
                <a:latin typeface="Calibri (MS)"/>
                <a:ea typeface="Calibri (MS)"/>
                <a:cs typeface="Calibri (MS)"/>
                <a:sym typeface="Calibri (MS)"/>
              </a:rPr>
              <a:t>How CrowdStrike Changed Process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44972" y="2742724"/>
            <a:ext cx="16154800" cy="6820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>
                <a:solidFill>
                  <a:srgbClr val="212121"/>
                </a:solidFill>
                <a:latin typeface="Calibri (MS)"/>
                <a:ea typeface="Calibri (MS)"/>
                <a:cs typeface="Calibri (MS)"/>
                <a:sym typeface="Calibri (MS)"/>
              </a:rPr>
              <a:t>• Enhanced Testing: Added content validator, template type checks, stress tests</a:t>
            </a:r>
          </a:p>
          <a:p>
            <a:pPr algn="l">
              <a:lnSpc>
                <a:spcPts val="3062"/>
              </a:lnSpc>
            </a:pPr>
            <a:r>
              <a:rPr lang="en-US" sz="2551">
                <a:solidFill>
                  <a:srgbClr val="212121"/>
                </a:solidFill>
                <a:latin typeface="Calibri (MS)"/>
                <a:ea typeface="Calibri (MS)"/>
                <a:cs typeface="Calibri (MS)"/>
                <a:sym typeface="Calibri (MS)"/>
              </a:rPr>
              <a:t>• Staged Deployment: No more global push at once - Rollout in phases</a:t>
            </a:r>
          </a:p>
          <a:p>
            <a:pPr algn="l">
              <a:lnSpc>
                <a:spcPts val="3062"/>
              </a:lnSpc>
            </a:pPr>
            <a:r>
              <a:rPr lang="en-US" sz="2551">
                <a:solidFill>
                  <a:srgbClr val="212121"/>
                </a:solidFill>
                <a:latin typeface="Calibri (MS)"/>
                <a:ea typeface="Calibri (MS)"/>
                <a:cs typeface="Calibri (MS)"/>
                <a:sym typeface="Calibri (MS)"/>
              </a:rPr>
              <a:t>• Faster Rollback: Ability to revert in minutes not hours</a:t>
            </a:r>
          </a:p>
          <a:p>
            <a:pPr algn="l">
              <a:lnSpc>
                <a:spcPts val="3062"/>
              </a:lnSpc>
            </a:pPr>
            <a:r>
              <a:rPr lang="en-US" sz="2551">
                <a:solidFill>
                  <a:srgbClr val="212121"/>
                </a:solidFill>
                <a:latin typeface="Calibri (MS)"/>
                <a:ea typeface="Calibri (MS)"/>
                <a:cs typeface="Calibri (MS)"/>
                <a:sym typeface="Calibri (MS)"/>
              </a:rPr>
              <a:t>• Customer Control: Customers can choose when/which updates - N-1 support</a:t>
            </a:r>
          </a:p>
          <a:p>
            <a:pPr algn="l">
              <a:lnSpc>
                <a:spcPts val="3062"/>
              </a:lnSpc>
            </a:pPr>
            <a:r>
              <a:rPr lang="en-US" sz="2551">
                <a:solidFill>
                  <a:srgbClr val="212121"/>
                </a:solidFill>
                <a:latin typeface="Calibri (MS)"/>
                <a:ea typeface="Calibri (MS)"/>
                <a:cs typeface="Calibri (MS)"/>
                <a:sym typeface="Calibri (MS)"/>
              </a:rPr>
              <a:t>• Better Monitoring: Real-time sensor health monitoring</a:t>
            </a:r>
          </a:p>
          <a:p>
            <a:pPr algn="l">
              <a:lnSpc>
                <a:spcPts val="3062"/>
              </a:lnSpc>
            </a:pPr>
            <a:r>
              <a:rPr lang="en-US" sz="2551">
                <a:solidFill>
                  <a:srgbClr val="212121"/>
                </a:solidFill>
                <a:latin typeface="Calibri (MS)"/>
                <a:ea typeface="Calibri (MS)"/>
                <a:cs typeface="Calibri (MS)"/>
                <a:sym typeface="Calibri (MS)"/>
              </a:rPr>
              <a:t>• External Review: Third-party code review for channel files</a:t>
            </a:r>
          </a:p>
          <a:p>
            <a:pPr algn="l">
              <a:lnSpc>
                <a:spcPts val="3062"/>
              </a:lnSpc>
            </a:pPr>
            <a:r>
              <a:rPr lang="en-US" sz="2551">
                <a:solidFill>
                  <a:srgbClr val="212121"/>
                </a:solidFill>
                <a:latin typeface="Calibri (MS)"/>
                <a:ea typeface="Calibri (MS)"/>
                <a:cs typeface="Calibri (MS)"/>
                <a:sym typeface="Calibri (MS)"/>
              </a:rPr>
              <a:t>• Lesson: Single config file can paralyze world - Importance of testing!</a:t>
            </a:r>
          </a:p>
          <a:p>
            <a:pPr algn="l">
              <a:lnSpc>
                <a:spcPts val="3062"/>
              </a:lnSpc>
            </a:pPr>
            <a:r>
              <a:rPr lang="en-US" sz="2551">
                <a:solidFill>
                  <a:srgbClr val="212121"/>
                </a:solidFill>
                <a:latin typeface="Calibri (MS)"/>
                <a:ea typeface="Calibri (MS)"/>
                <a:cs typeface="Calibri (MS)"/>
                <a:sym typeface="Calibri (MS)"/>
              </a:rPr>
              <a:t>• Industry Lesson: Don't deploy Friday, have offline recovery plan, backup comms</a:t>
            </a:r>
          </a:p>
        </p:txBody>
      </p:sp>
    </p:spTree>
  </p:cSld>
  <p:clrMapOvr>
    <a:masterClrMapping/>
  </p:clrMapOvr>
  <p:transition advTm="43907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5">
                <a:lumMod val="20000"/>
                <a:lumOff val="80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44972" y="342500"/>
            <a:ext cx="16607676" cy="16715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85"/>
              </a:lnSpc>
            </a:pPr>
            <a:r>
              <a:rPr lang="en-US" sz="5404" b="1">
                <a:solidFill>
                  <a:srgbClr val="0E236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Our GitHub Project Structure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44972" y="1762801"/>
            <a:ext cx="16607676" cy="10748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2">
                <a:solidFill>
                  <a:srgbClr val="323232"/>
                </a:solidFill>
                <a:latin typeface="Calibri (MS)"/>
                <a:ea typeface="Calibri (MS)"/>
                <a:cs typeface="Calibri (MS)"/>
                <a:sym typeface="Calibri (MS)"/>
              </a:rPr>
              <a:t>vp6wgjc29d-hub/crowdstrike-outage-2024-project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44972" y="2733199"/>
            <a:ext cx="7918771" cy="6830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212121"/>
                </a:solidFill>
                <a:latin typeface="Calibri (MS)"/>
                <a:ea typeface="Calibri (MS)"/>
                <a:cs typeface="Calibri (MS)"/>
                <a:sym typeface="Calibri (MS)"/>
              </a:rPr>
              <a:t>• docs/notes.md - Detailed timeline &amp; research</a:t>
            </a:r>
          </a:p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212121"/>
                </a:solidFill>
                <a:latin typeface="Calibri (MS)"/>
                <a:ea typeface="Calibri (MS)"/>
                <a:cs typeface="Calibri (MS)"/>
                <a:sym typeface="Calibri (MS)"/>
              </a:rPr>
              <a:t>• script/script.md - Video presentation script (Jasmeen + Prashanthi lines clear)</a:t>
            </a:r>
          </a:p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212121"/>
                </a:solidFill>
                <a:latin typeface="Calibri (MS)"/>
                <a:ea typeface="Calibri (MS)"/>
                <a:cs typeface="Calibri (MS)"/>
                <a:sym typeface="Calibri (MS)"/>
              </a:rPr>
              <a:t>• slides/jasmeen-slides.md - Slides 6-10 content</a:t>
            </a:r>
          </a:p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212121"/>
                </a:solidFill>
                <a:latin typeface="Calibri (MS)"/>
                <a:ea typeface="Calibri (MS)"/>
                <a:cs typeface="Calibri (MS)"/>
                <a:sym typeface="Calibri (MS)"/>
              </a:rPr>
              <a:t>• slides/prashanthi-slides.md - Slides 1-5 content</a:t>
            </a:r>
          </a:p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212121"/>
                </a:solidFill>
                <a:latin typeface="Calibri (MS)"/>
                <a:ea typeface="Calibri (MS)"/>
                <a:cs typeface="Calibri (MS)"/>
                <a:sym typeface="Calibri (MS)"/>
              </a:rPr>
              <a:t>• media/bsod.png - Real BSOD error (161KB)</a:t>
            </a:r>
          </a:p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212121"/>
                </a:solidFill>
                <a:latin typeface="Calibri (MS)"/>
                <a:ea typeface="Calibri (MS)"/>
                <a:cs typeface="Calibri (MS)"/>
                <a:sym typeface="Calibri (MS)"/>
              </a:rPr>
              <a:t>• media/airport.jpg - Real airport chaos (356KB)</a:t>
            </a:r>
          </a:p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212121"/>
                </a:solidFill>
                <a:latin typeface="Calibri (MS)"/>
                <a:ea typeface="Calibri (MS)"/>
                <a:cs typeface="Calibri (MS)"/>
                <a:sym typeface="Calibri (MS)"/>
              </a:rPr>
              <a:t>• presentation.pptx - This deck (10 slides)</a:t>
            </a:r>
          </a:p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212121"/>
                </a:solidFill>
                <a:latin typeface="Calibri (MS)"/>
                <a:ea typeface="Calibri (MS)"/>
                <a:cs typeface="Calibri (MS)"/>
                <a:sym typeface="Calibri (MS)"/>
              </a:rPr>
              <a:t>• README.md - Project overview + contributions</a:t>
            </a:r>
          </a:p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212121"/>
                </a:solidFill>
                <a:latin typeface="Calibri (MS)"/>
                <a:ea typeface="Calibri (MS)"/>
                <a:cs typeface="Calibri (MS)"/>
                <a:sym typeface="Calibri (MS)"/>
              </a:rPr>
              <a:t>• 10+ commits, 2 contributors, all tracked!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9608706" y="2745343"/>
            <a:ext cx="3431677" cy="2196274"/>
            <a:chOff x="0" y="0"/>
            <a:chExt cx="4575569" cy="292836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575556" cy="2928366"/>
            </a:xfrm>
            <a:custGeom>
              <a:avLst/>
              <a:gdLst/>
              <a:ahLst/>
              <a:cxnLst/>
              <a:rect l="l" t="t" r="r" b="b"/>
              <a:pathLst>
                <a:path w="4575556" h="2928366">
                  <a:moveTo>
                    <a:pt x="0" y="0"/>
                  </a:moveTo>
                  <a:lnTo>
                    <a:pt x="4575556" y="0"/>
                  </a:lnTo>
                  <a:lnTo>
                    <a:pt x="4575556" y="2928366"/>
                  </a:lnTo>
                  <a:lnTo>
                    <a:pt x="0" y="29283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2083" b="-2083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13452186" y="2745343"/>
            <a:ext cx="3431677" cy="2196274"/>
            <a:chOff x="0" y="0"/>
            <a:chExt cx="4575569" cy="292836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575556" cy="2928366"/>
            </a:xfrm>
            <a:custGeom>
              <a:avLst/>
              <a:gdLst/>
              <a:ahLst/>
              <a:cxnLst/>
              <a:rect l="l" t="t" r="r" b="b"/>
              <a:pathLst>
                <a:path w="4575556" h="2928366">
                  <a:moveTo>
                    <a:pt x="0" y="0"/>
                  </a:moveTo>
                  <a:lnTo>
                    <a:pt x="4575556" y="0"/>
                  </a:lnTo>
                  <a:lnTo>
                    <a:pt x="4575556" y="2928366"/>
                  </a:lnTo>
                  <a:lnTo>
                    <a:pt x="0" y="29283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6888" r="-6889"/>
              </a:stretch>
            </a:blipFill>
          </p:spPr>
        </p:sp>
      </p:grpSp>
    </p:spTree>
    <p:custDataLst>
      <p:tags r:id="rId1"/>
    </p:custDataLst>
  </p:cSld>
  <p:clrMapOvr>
    <a:masterClrMapping/>
  </p:clrMapOvr>
  <p:transition advTm="4191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44972" y="342900"/>
            <a:ext cx="16607676" cy="16715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85"/>
              </a:lnSpc>
            </a:pPr>
            <a:r>
              <a:rPr lang="en-US" sz="5404" b="1">
                <a:solidFill>
                  <a:srgbClr val="0E236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Conclusion &amp; Contributions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44972" y="1762801"/>
            <a:ext cx="16607676" cy="10748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2">
                <a:solidFill>
                  <a:srgbClr val="323232"/>
                </a:solidFill>
                <a:latin typeface="Calibri (MS)"/>
                <a:ea typeface="Calibri (MS)"/>
                <a:cs typeface="Calibri (MS)"/>
                <a:sym typeface="Calibri (MS)"/>
              </a:rPr>
              <a:t>Thank You! Questions?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44972" y="2752249"/>
            <a:ext cx="16154800" cy="68114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212121"/>
                </a:solidFill>
                <a:latin typeface="Calibri (MS)"/>
                <a:ea typeface="Calibri (MS)"/>
                <a:cs typeface="Calibri (MS)"/>
                <a:sym typeface="Calibri (MS)"/>
              </a:rPr>
              <a:t>• CrowdStrike outage July 19 2024 = Largest IT outage in history</a:t>
            </a:r>
          </a:p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212121"/>
                </a:solidFill>
                <a:latin typeface="Calibri (MS)"/>
                <a:ea typeface="Calibri (MS)"/>
                <a:cs typeface="Calibri (MS)"/>
                <a:sym typeface="Calibri (MS)"/>
              </a:rPr>
              <a:t>• Cause: Logic error in Channel File C-00000291*.sys - 21 fields vs 20 expected</a:t>
            </a:r>
          </a:p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212121"/>
                </a:solidFill>
                <a:latin typeface="Calibri (MS)"/>
                <a:ea typeface="Calibri (MS)"/>
                <a:cs typeface="Calibri (MS)"/>
                <a:sym typeface="Calibri (MS)"/>
              </a:rPr>
              <a:t>• 78 min deployment -&gt; 8.5M Windows PCs BSOD -&gt; $5.4B loss</a:t>
            </a:r>
          </a:p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212121"/>
                </a:solidFill>
                <a:latin typeface="Calibri (MS)"/>
                <a:ea typeface="Calibri (MS)"/>
                <a:cs typeface="Calibri (MS)"/>
                <a:sym typeface="Calibri (MS)"/>
              </a:rPr>
              <a:t>• Fix: Safe Mode -&gt; Delete C-00000291*.sys -&gt; Reboot</a:t>
            </a:r>
          </a:p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212121"/>
                </a:solidFill>
                <a:latin typeface="Calibri (MS)"/>
                <a:ea typeface="Calibri (MS)"/>
                <a:cs typeface="Calibri (MS)"/>
                <a:sym typeface="Calibri (MS)"/>
              </a:rPr>
              <a:t>• Prevention: Staged rollout, content validator, customer control</a:t>
            </a:r>
          </a:p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212121"/>
                </a:solidFill>
                <a:latin typeface="Calibri (MS)"/>
                <a:ea typeface="Calibri (MS)"/>
                <a:cs typeface="Calibri (MS)"/>
                <a:sym typeface="Calibri (MS)"/>
              </a:rPr>
              <a:t>• Prashanthi: Media (real images), GitHub repo, Slides 1-5, README, Matrix fixes</a:t>
            </a:r>
          </a:p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212121"/>
                </a:solidFill>
                <a:latin typeface="Calibri (MS)"/>
                <a:ea typeface="Calibri (MS)"/>
                <a:cs typeface="Calibri (MS)"/>
                <a:sym typeface="Calibri (MS)"/>
              </a:rPr>
              <a:t>• Jasmeen: Research, Script content, Slides 6-10, Root cause analysis</a:t>
            </a:r>
          </a:p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212121"/>
                </a:solidFill>
                <a:latin typeface="Calibri (MS)"/>
                <a:ea typeface="Calibri (MS)"/>
                <a:cs typeface="Calibri (MS)"/>
                <a:sym typeface="Calibri (MS)"/>
              </a:rPr>
              <a:t>• GitHub: 10+ commits visible, 2 contributors, all files tracked</a:t>
            </a:r>
          </a:p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212121"/>
                </a:solidFill>
                <a:latin typeface="Calibri (MS)"/>
                <a:ea typeface="Calibri (MS)"/>
                <a:cs typeface="Calibri (MS)"/>
                <a:sym typeface="Calibri (MS)"/>
              </a:rPr>
              <a:t>• Next: Record 5-min video + YouTube link in README</a:t>
            </a:r>
          </a:p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212121"/>
                </a:solidFill>
                <a:latin typeface="Calibri (MS)"/>
                <a:ea typeface="Calibri (MS)"/>
                <a:cs typeface="Calibri (MS)"/>
                <a:sym typeface="Calibri (MS)"/>
              </a:rPr>
              <a:t>• Q&amp;A - Thank you!</a:t>
            </a:r>
          </a:p>
        </p:txBody>
      </p:sp>
    </p:spTree>
    <p:custDataLst>
      <p:tags r:id="rId1"/>
    </p:custDataLst>
  </p:cSld>
  <p:clrMapOvr>
    <a:masterClrMapping/>
  </p:clrMapOvr>
  <p:transition advTm="59483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6|2.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9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2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3|2.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8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997</Words>
  <Application>Microsoft Office PowerPoint</Application>
  <PresentationFormat>Custom</PresentationFormat>
  <Paragraphs>97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 (MS) Bold</vt:lpstr>
      <vt:lpstr>Calibri (MS)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CrowdStrike_Outage_2024_Presentation.key</dc:title>
  <dc:creator>HP</dc:creator>
  <cp:lastModifiedBy>jasmeen kaur</cp:lastModifiedBy>
  <cp:revision>4</cp:revision>
  <dcterms:created xsi:type="dcterms:W3CDTF">2006-08-16T00:00:00Z</dcterms:created>
  <dcterms:modified xsi:type="dcterms:W3CDTF">2026-10-16T16:04:32Z</dcterms:modified>
  <dc:identifier>DAHXhvU2NRY</dc:identifier>
</cp:coreProperties>
</file>